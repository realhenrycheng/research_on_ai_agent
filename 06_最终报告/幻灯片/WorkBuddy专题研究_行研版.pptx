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7" Type="http://schemas.openxmlformats.org/officeDocument/2006/relationships/notesSlide" Target="../notesSlides/notesSlide1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Shape 1"/>
          <p:cNvSpPr/>
          <p:nvPr/>
        </p:nvSpPr>
        <p:spPr>
          <a:xfrm>
            <a:off x="502920" y="822960"/>
            <a:ext cx="292608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4" name="Text 2"/>
          <p:cNvSpPr/>
          <p:nvPr/>
        </p:nvSpPr>
        <p:spPr>
          <a:xfrm>
            <a:off x="502920" y="822960"/>
            <a:ext cx="2926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东方证券研究所 · 面试课题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38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从通用办公 Agent 到 Research Copilot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07920"/>
            <a:ext cx="8138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WorkBuddy 的能力、腾讯生态与商业化探索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95656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基于研究、事实核验、办公编辑与生态闭环的实测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2011680" cy="27432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9" name="Text 7"/>
          <p:cNvSpPr/>
          <p:nvPr/>
        </p:nvSpPr>
        <p:spPr>
          <a:xfrm>
            <a:off x="502920" y="39776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报告人：程浩然    2026 年 8 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85800" y="1325880"/>
            <a:ext cx="914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737360" y="132588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研究设计与方法</a:t>
            </a:r>
            <a:endParaRPr lang="en-US" sz="19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305300" y="1325880"/>
            <a:ext cx="44729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四项实验 + 六大假设，如何保证对比公平</a:t>
            </a:r>
            <a:endParaRPr lang="en-US" sz="13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85800" y="2194560"/>
            <a:ext cx="914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737360" y="219456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三项能力测试</a:t>
            </a:r>
            <a:endParaRPr lang="en-US" sz="19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305300" y="2194560"/>
            <a:ext cx="44729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 / 事实核验 / 办公编辑，与竞品对照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685800" y="3063240"/>
            <a:ext cx="914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737360" y="306324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腾讯生态验证</a:t>
            </a:r>
            <a:endParaRPr lang="en-US" sz="19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305935" y="3063240"/>
            <a:ext cx="447230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三层证据链：模拟 → 真实闭环 → 摩擦对比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85800" y="3931920"/>
            <a:ext cx="914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737360" y="393192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商业化与展望</a:t>
            </a:r>
            <a:endParaRPr lang="en-US" sz="19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4305935" y="3931920"/>
            <a:ext cx="447230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用户分层、ROI 测算与 Research Copilot 路线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</a:t>
            </a:r>
            <a:r>
              <a:rPr lang="zh-CN" alt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一个判断，三条证据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02920" y="1280160"/>
            <a:ext cx="260604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02920" y="1481328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92.10</a:t>
            </a:r>
            <a:endParaRPr lang="en-US" sz="40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02920" y="23317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办公编辑得分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67512" y="2724912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三家中最高，真实修复公式并生成图表</a:t>
            </a:r>
            <a:endParaRPr lang="en-US" sz="125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3291840" y="1280160"/>
            <a:ext cx="260604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3291840" y="1481328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5A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91.25</a:t>
            </a:r>
            <a:endParaRPr lang="en-US" sz="40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3291840" y="23317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强模型下研究得分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456432" y="2724912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逼近 ChatGPT Work 的 92.81，接近第一梯队</a:t>
            </a:r>
            <a:endParaRPr lang="en-US" sz="125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6080760" y="1280160"/>
            <a:ext cx="260604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080760" y="1481328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min</a:t>
            </a:r>
            <a:endParaRPr lang="en-US" sz="40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080760" y="23317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分发环节实测耗时</a:t>
            </a: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245352" y="2724912"/>
            <a:ext cx="2276856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 交付，人工仅需 10—20 分钟，摩擦为负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8138160" cy="68580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7" name="Text 15"/>
          <p:cNvSpPr/>
          <p:nvPr/>
        </p:nvSpPr>
        <p:spPr>
          <a:xfrm>
            <a:off x="685800" y="374904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定位判断：WorkBuddy 现阶段是「带人工复核的研究与办公助手」</a:t>
            </a: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不是无人值守的办公替身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研究设计：四项实验对应工作链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34440"/>
            <a:ext cx="192024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91440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专题研究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从公开资料形成研究交付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192024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371600"/>
            <a:ext cx="91440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2" name="Text 10"/>
          <p:cNvSpPr/>
          <p:nvPr/>
        </p:nvSpPr>
        <p:spPr>
          <a:xfrm>
            <a:off x="2743200" y="1371600"/>
            <a:ext cx="914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7830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事实核验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1488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证据落回、材料不足时停止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07992" y="16002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192024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91440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8" name="Text 16"/>
          <p:cNvSpPr/>
          <p:nvPr/>
        </p:nvSpPr>
        <p:spPr>
          <a:xfrm>
            <a:off x="4846320" y="1371600"/>
            <a:ext cx="914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7830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办公编辑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真实修改 Excel 并交付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11112" y="1600200"/>
            <a:ext cx="27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192024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371600"/>
            <a:ext cx="91440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4" name="Text 22"/>
          <p:cNvSpPr/>
          <p:nvPr/>
        </p:nvSpPr>
        <p:spPr>
          <a:xfrm>
            <a:off x="6949440" y="1371600"/>
            <a:ext cx="914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生态测试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1783080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三层证据链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模拟→真实闭环→摩擦对比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2834640"/>
            <a:ext cx="8138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六大研究假设(H1—H6)：从单次价值到生态价值逐层递进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324612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H1 工作流</a:t>
            </a:r>
            <a:endParaRPr lang="en-US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37360" y="324612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多步骤任务价值高于单轮问答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91840" y="324612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H2 连续性</a:t>
            </a:r>
            <a:endParaRPr lang="en-US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26280" y="324612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核心价值在持续更新而非首写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80760" y="324612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H3 用户分层</a:t>
            </a:r>
            <a:endParaRPr lang="en-US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0" y="324612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技术用户增量有限，非技术用户价值明显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3904488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H4 生态</a:t>
            </a:r>
            <a:endParaRPr lang="en-US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737360" y="3904488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生态只在减少步骤时形成优势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91840" y="3904488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H5 商业化</a:t>
            </a:r>
            <a:endParaRPr lang="en-US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26280" y="3904488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个人为便利付费，企业为权限知识库付费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080760" y="3904488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H6 专业化</a:t>
            </a:r>
            <a:endParaRPr lang="en-US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15200" y="3904488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垂直行业需行业模板与口径预设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测试一：研究能力——上限不低，但依赖模型配置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02920" y="1280160"/>
          <a:ext cx="5852160" cy="1536192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100584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平台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总分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事实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完整性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观点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来源与引用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ChatGPT Work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92.81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95.00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92.82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95.00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94.92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TRAE Work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88.64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93.33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81.89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82.50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95.75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WorkBuddy(Hy3)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83.68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86.67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98.33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77.50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70.25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280160"/>
            <a:ext cx="21031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6537960" y="141732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换模型复测(WorkBuddy)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182880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95959"/>
                </a:solidFill>
              </a:rPr>
              <a:t>Auto+MAX</a:t>
            </a:r>
            <a:endParaRPr lang="en-US" sz="1150" b="1" dirty="0"/>
          </a:p>
        </p:txBody>
      </p:sp>
      <p:sp>
        <p:nvSpPr>
          <p:cNvPr id="8" name="Text 5"/>
          <p:cNvSpPr/>
          <p:nvPr/>
        </p:nvSpPr>
        <p:spPr>
          <a:xfrm>
            <a:off x="7543800" y="182880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</a:rPr>
              <a:t>91.25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224028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95959"/>
                </a:solidFill>
              </a:rPr>
              <a:t>DS+MAX</a:t>
            </a:r>
            <a:endParaRPr lang="en-US" sz="1150" b="1" dirty="0"/>
          </a:p>
        </p:txBody>
      </p:sp>
      <p:sp>
        <p:nvSpPr>
          <p:cNvPr id="10" name="Text 7"/>
          <p:cNvSpPr/>
          <p:nvPr/>
        </p:nvSpPr>
        <p:spPr>
          <a:xfrm>
            <a:off x="7543800" y="2240280"/>
            <a:ext cx="1005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</a:rPr>
              <a:t>90.00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2697480"/>
            <a:ext cx="2103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耗时仅 290 秒，接近 TRAE 的速度水平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794760"/>
            <a:ext cx="813816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判断：WorkBuddy 不是「固定低分」，而是「能力高度依赖配置」——Hy3 基线下来源质量弱(70.25)，换强模型后接近第一梯队。采购时必须问清模型、上下文与 MAX 配置。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测试二：事实核验——会引用证据，不等于结论正确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1280160"/>
          <a:ext cx="5669280" cy="1536192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1005840"/>
                <a:gridCol w="1143000"/>
                <a:gridCol w="100584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平台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Factcheck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FACTS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平均主评分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总积分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WorkBuddy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60.02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93.34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76.68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498.70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ChatGPT Work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59.55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90.43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74.99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未记录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TRAE Work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57.50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95.88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76.69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413.31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280160"/>
            <a:ext cx="224028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41732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被忽视的量化发现</a:t>
            </a:r>
            <a:endParaRPr lang="en-US" sz="1400" dirty="0"/>
          </a:p>
        </p:txBody>
      </p:sp>
      <p:sp>
        <p:nvSpPr>
          <p:cNvPr id="4" name="Text 4"/>
          <p:cNvSpPr/>
          <p:nvPr/>
        </p:nvSpPr>
        <p:spPr>
          <a:xfrm>
            <a:off x="6400800" y="1828800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95959"/>
                </a:solidFill>
              </a:rPr>
              <a:t>积分变异系数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0" y="2084832"/>
            <a:ext cx="2240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</a:rPr>
              <a:t>67%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92240" y="2651760"/>
            <a:ext cx="2057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单题积分 4.47—54.97，波动超 12 倍；积分与质量相关性≈0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794760"/>
            <a:ext cx="813816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判断：事实核验无绝对领先者；WorkBuddy 质量均值略高，但成本不可预测(多花积分≠质量更高)。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关键数字、行业口径必须人工确认——证据可复核，不等于结论正确。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测试三：办公编辑——能否交付真实、可打开的文件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80160"/>
            <a:ext cx="260604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WorkBuddy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92.10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0604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173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ChatGPT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5A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65.05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6080760" y="1280160"/>
            <a:ext cx="2606040" cy="173736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417320"/>
            <a:ext cx="2606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TRAE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1828800"/>
            <a:ext cx="2606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51.80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</a:rPr>
              <a:t>WorkBuddy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3200400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</a:rPr>
              <a:t>修复 36 处公式问题；生成真实四系列折线图；一致率 99.53%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</a:rPr>
              <a:t>ChatGPT 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</a:rPr>
              <a:t>公式修复强，但声称的图表未落盘，数据区残留 150 个无效公式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</a:rPr>
              <a:t>TRAE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4206240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</a:rPr>
              <a:t>速度快(446 秒)，但一题输出文件 XML 解析失败，触发交付门槛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8138160" cy="91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生态测试：三层证据链的设计与验证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80160"/>
            <a:ext cx="260604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37160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6" name="Text 4"/>
          <p:cNvSpPr/>
          <p:nvPr/>
        </p:nvSpPr>
        <p:spPr>
          <a:xfrm>
            <a:off x="640080" y="1417320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能力模拟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本地材料测试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HERB + MuDABench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331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排除网络与连接器干扰，只测材料处理能力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81528" y="228600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0604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17320"/>
            <a:ext cx="1371600" cy="310896"/>
          </a:xfrm>
          <a:prstGeom prst="rect">
            <a:avLst/>
          </a:prstGeom>
          <a:solidFill>
            <a:srgbClr val="2E5A88"/>
          </a:solidFill>
        </p:spPr>
      </p:sp>
      <p:sp>
        <p:nvSpPr>
          <p:cNvPr id="13" name="Text 11"/>
          <p:cNvSpPr/>
          <p:nvPr/>
        </p:nvSpPr>
        <p:spPr>
          <a:xfrm>
            <a:off x="3429000" y="1417320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真实闭环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真实连接器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24028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文档写回 / ima 知识库 / PPT+邮件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29000" y="2788920"/>
            <a:ext cx="2331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生态能否真实读写、沉淀与分发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228600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0760" y="1280160"/>
            <a:ext cx="260604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417320"/>
            <a:ext cx="137160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0" name="Text 18"/>
          <p:cNvSpPr/>
          <p:nvPr/>
        </p:nvSpPr>
        <p:spPr>
          <a:xfrm>
            <a:off x="6217920" y="1417320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摩擦对比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87452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人工基线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24028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R3 实测 vs 人工估算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2788920"/>
            <a:ext cx="2331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比人更快还是更慢?值不值得用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886200"/>
            <a:ext cx="813816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为什么三层：单任务能力 ≠ 生态增量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只有跑通整条链，才能区分模型能力、连接器能力与工作流摩擦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 材料能力：理解成立，口径仍需人工收口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80160"/>
            <a:ext cx="3931920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9728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6" name="Text 4"/>
          <p:cNvSpPr/>
          <p:nvPr/>
        </p:nvSpPr>
        <p:spPr>
          <a:xfrm>
            <a:off x="640080" y="1417320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HERB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跨材料分析 + 增量修订(满分 100)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</a:rPr>
              <a:t>DeepSeek V4 Flash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228600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0000"/>
                </a:solidFill>
              </a:rPr>
              <a:t>100 / 100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</a:rPr>
              <a:t>Hy3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51760" y="269748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5A88"/>
                </a:solidFill>
              </a:rPr>
              <a:t>96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</a:rPr>
              <a:t>Hy3 + MAX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51760" y="3108960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3864"/>
                </a:solidFill>
              </a:rPr>
              <a:t>98.5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3931920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417320"/>
            <a:ext cx="173736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6" name="Text 14"/>
          <p:cNvSpPr/>
          <p:nvPr/>
        </p:nvSpPr>
        <p:spPr>
          <a:xfrm>
            <a:off x="4846320" y="1417320"/>
            <a:ext cx="1737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MuDABench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六题中文企业多文档分析(DS 单组)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16674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0000"/>
                </a:solidFill>
              </a:rPr>
              <a:t>平均 71.50 分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65887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证据可复核性 6/6 满分；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失分全部来自「结论与锚点口径不一致」，而非事实错误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判断：模型没有乱编，甚至主动暴露不确定项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「采用哪种业务口径」必须由人决定——口径敏感任务需人工收口(支持 H6 专业化假设)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L2 真实闭环：知识库最扎实，同时暴露静默错误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80160"/>
            <a:ext cx="393192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822960" cy="310896"/>
          </a:xfrm>
          <a:prstGeom prst="rect">
            <a:avLst/>
          </a:prstGeom>
          <a:solidFill>
            <a:srgbClr val="2E5A88"/>
          </a:solidFill>
        </p:spPr>
      </p:sp>
      <p:sp>
        <p:nvSpPr>
          <p:cNvPr id="6" name="Text 4"/>
          <p:cNvSpPr/>
          <p:nvPr/>
        </p:nvSpPr>
        <p:spPr>
          <a:xfrm>
            <a:off x="640080" y="141732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文档写回(判据 8/8)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创建→写回→读回→修订→评论→分享，链路全通；但耗时约 74 分钟，效率偏低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平台偏差：实际后端为金山文档(KDocs)而非腾讯文档——连接器「已连接」≠ 工具必然可用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31920" cy="21488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822960" cy="31089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2" name="Text 10"/>
          <p:cNvSpPr/>
          <p:nvPr/>
        </p:nvSpPr>
        <p:spPr>
          <a:xfrm>
            <a:off x="4846320" y="1417320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ima 知识库(判据 7/7，最佳结果)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16/16 PDF 入库→URL 导入→增量管理→检索引用→摘要，全链路打通；约 20 分钟，仅 1 次人工介入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静默错误：工行/农行年报入库但未解析完成，「资本充足率前三」结论漏掉二者、排名错误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813816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904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关键教训：入库成功 ≠ 可检索完整 ≠ 结论正确。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735"/>
            <a:ext cx="856361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L3 摩擦对比：PPT+邮件</a:t>
            </a:r>
            <a:r>
              <a:rPr lang="zh-CN" alt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分发</a:t>
            </a: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" y="1280160"/>
          <a:ext cx="5486400" cy="2057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20116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WorkBuddy(实测)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人工(估算)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总耗时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 60 分钟，未完成</a:t>
                      </a:r>
                      <a:endParaRPr 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10—20 分钟，完成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人工介入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 次干预 + 1 次确认</a:t>
                      </a:r>
                      <a:endParaRPr 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完成状态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失败，0 交付</a:t>
                      </a:r>
                      <a:endParaRPr 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成功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失败与重试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附件重试 3 轮全失败</a:t>
                      </a:r>
                      <a:endParaRPr lang="en-US" sz="12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通常没有</a:t>
                      </a:r>
                      <a:endParaRPr lang="en-US" sz="12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280160"/>
            <a:ext cx="237744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失败过程三阶段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9990" y="1828800"/>
            <a:ext cx="237045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PPT 技能依赖装不上 → 换替代方案</a:t>
            </a:r>
            <a:endParaRPr lang="en-US" sz="900" dirty="0"/>
          </a:p>
          <a:p>
            <a:pPr marL="0" indent="0" algn="just">
              <a:lnSpc>
                <a:spcPts val="16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PPT 生成成功但内容被压缩，质量不合格</a:t>
            </a:r>
            <a:endParaRPr lang="en-US" sz="900" dirty="0"/>
          </a:p>
          <a:p>
            <a:pPr marL="0" indent="0" algn="just">
              <a:lnSpc>
                <a:spcPts val="16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附件 base64 硬阻塞，工具调用多次无返回</a:t>
            </a:r>
            <a:endParaRPr lang="en-US" sz="9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3703320"/>
            <a:ext cx="813816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74904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判断：根因在工具链而非模型(附件限制、依赖安装、无止损机制)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生态价值按环节评估——知识库减摩擦为正，R3 增摩擦为负。生态覆盖广 ≠ 工作流好用。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成本与使用方式：强模型应该配置在哪里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80160"/>
            <a:ext cx="374904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积分：贵 ≠ 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25295"/>
            <a:ext cx="3474720" cy="6337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变异系数约 67%，单题积分 4.47—54.97；</a:t>
            </a:r>
            <a:endParaRPr lang="en-US" sz="10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积分与质量相关性接近零——多花钱买不到更可靠的结果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331085"/>
            <a:ext cx="3474720" cy="5949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上下文：长任务消耗快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74010"/>
            <a:ext cx="3474720" cy="3721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测试一 DS 仅用 142.2k/1000k；测试三冲至 117.3K/168K——复杂办公任务快速消耗额度</a:t>
            </a:r>
            <a:endParaRPr 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26280" y="1280160"/>
          <a:ext cx="4114800" cy="2267712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任务阶段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建议配置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原因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整理与分类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基础模型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任务重复，错误易被后续发现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跨材料分析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DeepSeek 等强模型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需处理冲突与长上下文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正式交付前核验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强模型 + 人工复核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关键事实不能只靠模型自检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判断：按风险分级配置强模型，而非全量开 MAX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前提是平台能提前告知成本——成本可预测性是产品信任的一部分，否则梯度控制只是用户个人经验。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商业化：价值按场景分化，付费集中在正 ROI 环节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1280160"/>
          <a:ext cx="484632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单次净价值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判断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检索/知识库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+240~530 元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正(ROI 3-10 倍)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报告生成/修订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+300~740 元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正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会议纪要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+80~240 元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✅ 正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PPT+分发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-150~-220 元</a:t>
                      </a:r>
                      <a:endParaRPr lang="en-US" sz="900" dirty="0">
                        <a:solidFill>
                          <a:srgbClr val="26262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❌ 负(60 分钟 0 交付)</a:t>
                      </a:r>
                      <a:endParaRPr lang="en-US" sz="900" b="1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280160"/>
            <a:ext cx="30175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23560" y="141732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用户分层(节选)</a:t>
            </a:r>
            <a:endParaRPr lang="en-US" sz="1400" dirty="0"/>
          </a:p>
        </p:txBody>
      </p:sp>
      <p:sp>
        <p:nvSpPr>
          <p:cNvPr id="7" name="Text 4"/>
          <p:cNvSpPr/>
          <p:nvPr>
            <p:custDataLst>
              <p:tags r:id="rId1"/>
            </p:custDataLst>
          </p:nvPr>
        </p:nvSpPr>
        <p:spPr>
          <a:xfrm>
            <a:off x="5760720" y="1828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62626"/>
                </a:solidFill>
              </a:rPr>
              <a:t>个人知识工作者</a:t>
            </a:r>
            <a:endParaRPr lang="en-US" sz="900" b="1" dirty="0">
              <a:solidFill>
                <a:srgbClr val="262626"/>
              </a:solidFill>
            </a:endParaRPr>
          </a:p>
        </p:txBody>
      </p:sp>
      <p:sp>
        <p:nvSpPr>
          <p:cNvPr id="8" name="Text 5"/>
          <p:cNvSpPr/>
          <p:nvPr>
            <p:custDataLst>
              <p:tags r:id="rId2"/>
            </p:custDataLst>
          </p:nvPr>
        </p:nvSpPr>
        <p:spPr>
          <a:xfrm>
            <a:off x="5760720" y="2061845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95959"/>
                </a:solidFill>
              </a:rPr>
              <a:t>标准版(¥70/月)ROI 为正，聚焦检索场景</a:t>
            </a:r>
            <a:endParaRPr lang="en-US" sz="800" dirty="0">
              <a:solidFill>
                <a:srgbClr val="595959"/>
              </a:solidFill>
            </a:endParaRPr>
          </a:p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5760720" y="2267077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62626"/>
                </a:solidFill>
              </a:rPr>
              <a:t>非技术型研究员</a:t>
            </a:r>
            <a:endParaRPr lang="en-US" sz="900" b="1" dirty="0">
              <a:solidFill>
                <a:srgbClr val="262626"/>
              </a:solidFill>
            </a:endParaRPr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774055" y="2531237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95959"/>
                </a:solidFill>
              </a:rPr>
              <a:t>低门槛 + 需复核闭环，标准/高级版</a:t>
            </a:r>
            <a:endParaRPr lang="en-US" sz="800" dirty="0">
              <a:solidFill>
                <a:srgbClr val="595959"/>
              </a:solidFill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5760720" y="2728214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62626"/>
                </a:solidFill>
              </a:rPr>
              <a:t>中小团队</a:t>
            </a:r>
            <a:endParaRPr lang="en-US" sz="900" b="1" dirty="0">
              <a:solidFill>
                <a:srgbClr val="262626"/>
              </a:solidFill>
            </a:endParaRPr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5760720" y="2936875"/>
            <a:ext cx="2743200" cy="3060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95959"/>
                </a:solidFill>
              </a:rPr>
              <a:t>共享知识库 + 用量管理，企业版 ¥198/人/月</a:t>
            </a:r>
            <a:endParaRPr lang="en-US" sz="800" dirty="0">
              <a:solidFill>
                <a:srgbClr val="595959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02920" y="3749040"/>
            <a:ext cx="8138160" cy="73152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判断：个人市场「检索/知识库」场景先行；企业价值最强但被稳定性挡在门外。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现阶段定义为「统一办公入口」为时过早——先从单点场景建立口碑(草房子先装修再出租)。</a:t>
            </a:r>
            <a:endParaRPr lang="en-US" sz="12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优化路线：从 Research Copilot 构想回到工程动作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02920" y="1280160"/>
            <a:ext cx="260604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640080" y="1588770"/>
            <a:ext cx="1097280" cy="31089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1588770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P0 短期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40080" y="21107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解决失控问题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40080" y="2286000"/>
            <a:ext cx="2331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失败止损(对应 R3 重试无果)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参数体量预检(对应附件硬阻塞)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技能依赖预置(对应 PPT 装不上)</a:t>
            </a:r>
            <a:endParaRPr 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3291840" y="1280160"/>
            <a:ext cx="260604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429000" y="1588770"/>
            <a:ext cx="1097280" cy="310896"/>
          </a:xfrm>
          <a:prstGeom prst="rect">
            <a:avLst/>
          </a:prstGeom>
          <a:solidFill>
            <a:srgbClr val="2E5A88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429000" y="1588770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 中期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3429000" y="21107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提升结果可信度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3429000" y="2286000"/>
            <a:ext cx="2331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知识库解析覆盖率提示(对应静默缺样)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链接分发替代附件(绕开 base64)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人工复核点机制化(替代全程盯守)</a:t>
            </a:r>
            <a:endParaRPr 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6080760" y="1280160"/>
            <a:ext cx="260604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6217920" y="1588770"/>
            <a:ext cx="1097280" cy="310896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6217920" y="1588770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P2 长期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6217920" y="21107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垂直行业化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6217920" y="2286000"/>
            <a:ext cx="2331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行业模板 + 来源白名单(对应口径分歧)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口径预设 + 观点版本管理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形成垂直行业 Research Copilot</a:t>
            </a:r>
            <a:endParaRPr lang="en-US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0" name="Text 18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护城河：模型可替换、连接器不稳 → 真正能沉淀的是知识库、行业模板与长期工作记录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结论：优势、不足与定位判断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005840" cy="41148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4" name="Shape 2"/>
          <p:cNvSpPr/>
          <p:nvPr/>
        </p:nvSpPr>
        <p:spPr>
          <a:xfrm>
            <a:off x="502920" y="1234440"/>
            <a:ext cx="393192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1280160" cy="310896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6" name="Text 4"/>
          <p:cNvSpPr/>
          <p:nvPr/>
        </p:nvSpPr>
        <p:spPr>
          <a:xfrm>
            <a:off x="640080" y="1371600"/>
            <a:ext cx="12801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已成立的优势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材料消化与证据定位强：HERB 满分、证据可复核 6/6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办公编辑领先：92.10 分，真实修复公式 + 生成图表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知识库闭环可用：ima 全链路，替代数小时翻阅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强模型下研究接近第一梯队：Auto+MAX 91.25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93192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71600"/>
            <a:ext cx="1280160" cy="310896"/>
          </a:xfrm>
          <a:prstGeom prst="rect">
            <a:avLst/>
          </a:prstGeom>
          <a:solidFill>
            <a:srgbClr val="595959"/>
          </a:solidFill>
        </p:spPr>
      </p:sp>
      <p:sp>
        <p:nvSpPr>
          <p:cNvPr id="13" name="Text 11"/>
          <p:cNvSpPr/>
          <p:nvPr/>
        </p:nvSpPr>
        <p:spPr>
          <a:xfrm>
            <a:off x="4846320" y="1371600"/>
            <a:ext cx="12801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明确的不足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992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模型配置敏感：Hy3 来源质量弱(70.25)，波动大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107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成本不可预测：积分变异 67%，与质量不相关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25222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连接器/技能稳定性不足：通道崩溃、依赖装不上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9337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无止损机制：一次失败需用户 4 次干预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33451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知识库静默缺样：入库 ≠ 解析完整 ≠ 结论正确</a:t>
            </a:r>
            <a:endParaRPr lang="en-US" sz="1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8138160" cy="594360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20" name="Text 18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定位：带人工复核的研究与办公助手——能承担前期工作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口径判断、关键核验与对外交付仍需人工收口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4736592"/>
            <a:ext cx="411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F3864"/>
          </a:solidFill>
        </p:spPr>
      </p:sp>
      <p:sp>
        <p:nvSpPr>
          <p:cNvPr id="3" name="Text 1"/>
          <p:cNvSpPr/>
          <p:nvPr/>
        </p:nvSpPr>
        <p:spPr>
          <a:xfrm>
            <a:off x="502920" y="1463040"/>
            <a:ext cx="81381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从通用办公 Agent 到 Research Copilot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0" y="3017520"/>
            <a:ext cx="1463040" cy="27432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6" name="Text 4"/>
          <p:cNvSpPr/>
          <p:nvPr/>
        </p:nvSpPr>
        <p:spPr>
          <a:xfrm>
            <a:off x="502920" y="329184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基于真实实验的实证研究 | 程浩然 | 2026 年 8 月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2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3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4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5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6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7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8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9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10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11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12.xml><?xml version="1.0" encoding="utf-8"?>
<p:tagLst xmlns:p="http://schemas.openxmlformats.org/presentationml/2006/main">
  <p:tag name="KSO_WM_DIAGRAM_VIRTUALLY_FRAME" val="{&quot;height&quot;:248.4,&quot;left&quot;:54,&quot;top&quot;:104.4,&quot;width&quot;:637.2}"/>
</p:tagLst>
</file>

<file path=ppt/tags/tag13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14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15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16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17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18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19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20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21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22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23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24.xml><?xml version="1.0" encoding="utf-8"?>
<p:tagLst xmlns:p="http://schemas.openxmlformats.org/presentationml/2006/main">
  <p:tag name="KSO_WM_DIAGRAM_VIRTUALLY_FRAME" val="{&quot;height&quot;:169.2,&quot;left&quot;:39.6,&quot;top&quot;:100.8,&quot;width&quot;:644.4}"/>
</p:tagLst>
</file>

<file path=ppt/tags/tag25.xml><?xml version="1.0" encoding="utf-8"?>
<p:tagLst xmlns:p="http://schemas.openxmlformats.org/presentationml/2006/main">
  <p:tag name="KSO_WM_DIAGRAM_VIRTUALLY_FRAME" val="{&quot;height&quot;:136.08,&quot;left&quot;:453.6,&quot;top&quot;:144,&quot;width&quot;:217.05}"/>
</p:tagLst>
</file>

<file path=ppt/tags/tag26.xml><?xml version="1.0" encoding="utf-8"?>
<p:tagLst xmlns:p="http://schemas.openxmlformats.org/presentationml/2006/main">
  <p:tag name="KSO_WM_DIAGRAM_VIRTUALLY_FRAME" val="{&quot;height&quot;:136.08,&quot;left&quot;:453.6,&quot;top&quot;:144,&quot;width&quot;:217.05}"/>
</p:tagLst>
</file>

<file path=ppt/tags/tag27.xml><?xml version="1.0" encoding="utf-8"?>
<p:tagLst xmlns:p="http://schemas.openxmlformats.org/presentationml/2006/main">
  <p:tag name="KSO_WM_DIAGRAM_VIRTUALLY_FRAME" val="{&quot;height&quot;:136.08,&quot;left&quot;:453.6,&quot;top&quot;:144,&quot;width&quot;:217.05}"/>
</p:tagLst>
</file>

<file path=ppt/tags/tag28.xml><?xml version="1.0" encoding="utf-8"?>
<p:tagLst xmlns:p="http://schemas.openxmlformats.org/presentationml/2006/main">
  <p:tag name="KSO_WM_DIAGRAM_VIRTUALLY_FRAME" val="{&quot;height&quot;:136.08,&quot;left&quot;:453.6,&quot;top&quot;:144,&quot;width&quot;:217.05}"/>
</p:tagLst>
</file>

<file path=ppt/tags/tag29.xml><?xml version="1.0" encoding="utf-8"?>
<p:tagLst xmlns:p="http://schemas.openxmlformats.org/presentationml/2006/main">
  <p:tag name="KSO_WM_DIAGRAM_VIRTUALLY_FRAME" val="{&quot;height&quot;:136.08,&quot;left&quot;:453.6,&quot;top&quot;:144,&quot;width&quot;:217.05}"/>
</p:tagLst>
</file>

<file path=ppt/tags/tag30.xml><?xml version="1.0" encoding="utf-8"?>
<p:tagLst xmlns:p="http://schemas.openxmlformats.org/presentationml/2006/main">
  <p:tag name="KSO_WM_DIAGRAM_VIRTUALLY_FRAME" val="{&quot;height&quot;:136.08,&quot;left&quot;:453.6,&quot;top&quot;:144,&quot;width&quot;:217.05}"/>
</p:tagLst>
</file>

<file path=ppt/tags/tag31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2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3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4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5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6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7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8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39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40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41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42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43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44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ags/tag45.xml><?xml version="1.0" encoding="utf-8"?>
<p:tagLst xmlns:p="http://schemas.openxmlformats.org/presentationml/2006/main">
  <p:tag name="KSO_WM_DIAGRAM_VIRTUALLY_FRAME" val="{&quot;height&quot;:194.4,&quot;left&quot;:39.6,&quot;top&quot;:100.8,&quot;width&quot;:644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3654</Words>
  <Application>WPS 演示</Application>
  <PresentationFormat>On-screen Show (16:9)</PresentationFormat>
  <Paragraphs>553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程浩然</dc:creator>
  <dc:subject>PptxGenJS Presentation</dc:subject>
  <cp:lastModifiedBy>BounceBoy</cp:lastModifiedBy>
  <cp:revision>62</cp:revision>
  <dcterms:created xsi:type="dcterms:W3CDTF">2026-08-06T16:58:00Z</dcterms:created>
  <dcterms:modified xsi:type="dcterms:W3CDTF">2026-08-06T17:11:07Z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90619A9BBF0A4910AD126B8A7FC81CB5_12</vt:lpwstr>
  </property>
  <property fmtid="{D5CDD505-2E9C-101B-9397-08002B2CF9AE}" pid="3" name="KSOProductBuildVer">
    <vt:lpwstr>2052-12.1.0.22529</vt:lpwstr>
  </property>
</Properties>
</file>